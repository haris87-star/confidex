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  <p:embeddedFont>
      <p:font typeface="Times New Roman MT" charset="1" panose="02030502070405020303"/>
      <p:regular r:id="rId22"/>
    </p:embeddedFont>
    <p:embeddedFont>
      <p:font typeface="Bukhari Script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 with team name and the track you chose. Ten seconds, no more.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Name the track, then state the problem in one sentence before the detail.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Lead with the one-line value proposition, then walk the visual.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Five modules, one breath each. Do not read the boxes aloud.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Name the stack, do not defend it. Judges ask if they care.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Three numbers. Say where each one comes from.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Pick the two rows that matter most. Skip the rest.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Names and one contact. Do not read every phone number aloud.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Leave this up while judges ask questions.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attack.mitre.org/detectionstrategies/DET0220/?utm_source=chatgpt.com" TargetMode="External" Type="http://schemas.openxmlformats.org/officeDocument/2006/relationships/hyperlink"/><Relationship Id="rId2" Target="../notesSlides/notesSlide9.xml" Type="http://schemas.openxmlformats.org/officeDocument/2006/relationships/notesSlide"/><Relationship Id="rId3" Target="https://learn.microsoft.com/en-us/purview/dlp-learn-about-dlp?utm_source=chatgpt.com" TargetMode="External" Type="http://schemas.openxmlformats.org/officeDocument/2006/relationships/hyperlink"/><Relationship Id="rId4" Target="https://learn.microsoft.com/en-us/purview/purview-security?utm_source=chatgpt.com" TargetMode="External" Type="http://schemas.openxmlformats.org/officeDocument/2006/relationships/hyperlink"/><Relationship Id="rId5" Target="https://learn.microsoft.com/en-us/purview/dlp-analytics-get-started?utm_source=chatgpt.com" TargetMode="External" Type="http://schemas.openxmlformats.org/officeDocument/2006/relationships/hyperlink"/><Relationship Id="rId6" Target="https://www.cisa.gov/sites/default/files/publications/Insider%20Threat%20Mitigation%20Guide_Final_508.pdf?utm_source=chatgpt.com" TargetMode="External" Type="http://schemas.openxmlformats.org/officeDocument/2006/relationships/hyperlink"/><Relationship Id="rId7" Target="https://www.cisa.gov/topics/physical-security/insider-threat-mitigation/resources-and-tools?utm_source=chatgpt.com" TargetMode="External" Type="http://schemas.openxmlformats.org/officeDocument/2006/relationships/hyperlink"/><Relationship Id="rId8" Target="https://attack.mitre.org/techniques/T1052/?utm_source=chatgpt.com" TargetMode="External" Type="http://schemas.openxmlformats.org/officeDocument/2006/relationships/hyperlink"/><Relationship Id="rId9" Target="https://attack.mitre.org/detectionstrategies/DET0123/?utm_source=chatgpt.com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6189040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IDEATE.BLR / 26 — AN AI IDEATHON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903" y="2027511"/>
            <a:ext cx="6326743" cy="177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9"/>
              </a:lnSpc>
            </a:pPr>
            <a:r>
              <a:rPr lang="en-US" sz="138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903" y="3534689"/>
            <a:ext cx="6182916" cy="177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9"/>
              </a:lnSpc>
            </a:pPr>
            <a:r>
              <a:rPr lang="en-US" sz="1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BLR ʼ26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903" y="4994253"/>
            <a:ext cx="1517904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15324" y="4994253"/>
            <a:ext cx="124396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4447" y="4994253"/>
            <a:ext cx="2443858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46504" y="4994253"/>
            <a:ext cx="124396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78304" y="5022028"/>
            <a:ext cx="1869796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903" y="8742712"/>
            <a:ext cx="186969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903" y="9232278"/>
            <a:ext cx="186969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THURSDAY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308004" y="8812559"/>
            <a:ext cx="19050" cy="902941"/>
            <a:chOff x="0" y="0"/>
            <a:chExt cx="25400" cy="12039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400" cy="1203960"/>
            </a:xfrm>
            <a:custGeom>
              <a:avLst/>
              <a:gdLst/>
              <a:ahLst/>
              <a:cxnLst/>
              <a:rect r="r" b="b" t="t" l="l"/>
              <a:pathLst>
                <a:path h="120396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03960"/>
                  </a:lnTo>
                  <a:lnTo>
                    <a:pt x="0" y="1203960"/>
                  </a:lnTo>
                  <a:close/>
                </a:path>
              </a:pathLst>
            </a:custGeom>
            <a:solidFill>
              <a:srgbClr val="050505">
                <a:alpha val="9020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962057" y="8742712"/>
            <a:ext cx="3168244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REVA UNIVERSITY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62057" y="9232278"/>
            <a:ext cx="3168244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BENGALURU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70766" y="1678257"/>
            <a:ext cx="7164734" cy="8037243"/>
            <a:chOff x="0" y="0"/>
            <a:chExt cx="9552978" cy="107163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52940" cy="10716260"/>
            </a:xfrm>
            <a:custGeom>
              <a:avLst/>
              <a:gdLst/>
              <a:ahLst/>
              <a:cxnLst/>
              <a:rect r="r" b="b" t="t" l="l"/>
              <a:pathLst>
                <a:path h="10716260" w="9552940">
                  <a:moveTo>
                    <a:pt x="0" y="0"/>
                  </a:moveTo>
                  <a:lnTo>
                    <a:pt x="9552940" y="0"/>
                  </a:lnTo>
                  <a:lnTo>
                    <a:pt x="9552940" y="10716260"/>
                  </a:lnTo>
                  <a:lnTo>
                    <a:pt x="0" y="1071626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653370" y="2103711"/>
            <a:ext cx="6824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9B9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TEAM_SUBMISSION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627966" y="4313711"/>
            <a:ext cx="6250334" cy="19050"/>
            <a:chOff x="0" y="0"/>
            <a:chExt cx="8333778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33740" cy="25400"/>
            </a:xfrm>
            <a:custGeom>
              <a:avLst/>
              <a:gdLst/>
              <a:ahLst/>
              <a:cxnLst/>
              <a:rect r="r" b="b" t="t" l="l"/>
              <a:pathLst>
                <a:path h="25400" w="8333740">
                  <a:moveTo>
                    <a:pt x="0" y="0"/>
                  </a:moveTo>
                  <a:lnTo>
                    <a:pt x="8333740" y="0"/>
                  </a:lnTo>
                  <a:lnTo>
                    <a:pt x="833374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5EAD8">
                <a:alpha val="15686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27966" y="2870749"/>
            <a:ext cx="6250334" cy="14288"/>
            <a:chOff x="0" y="0"/>
            <a:chExt cx="833377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33740" cy="19050"/>
            </a:xfrm>
            <a:custGeom>
              <a:avLst/>
              <a:gdLst/>
              <a:ahLst/>
              <a:cxnLst/>
              <a:rect r="r" b="b" t="t" l="l"/>
              <a:pathLst>
                <a:path h="19050" w="8333740">
                  <a:moveTo>
                    <a:pt x="0" y="0"/>
                  </a:moveTo>
                  <a:lnTo>
                    <a:pt x="8333740" y="0"/>
                  </a:lnTo>
                  <a:lnTo>
                    <a:pt x="83337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27966" y="2870749"/>
            <a:ext cx="14288" cy="1462011"/>
            <a:chOff x="0" y="0"/>
            <a:chExt cx="19050" cy="19493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1949323"/>
            </a:xfrm>
            <a:custGeom>
              <a:avLst/>
              <a:gdLst/>
              <a:ahLst/>
              <a:cxnLst/>
              <a:rect r="r" b="b" t="t" l="l"/>
              <a:pathLst>
                <a:path h="1949323" w="19050">
                  <a:moveTo>
                    <a:pt x="0" y="0"/>
                  </a:moveTo>
                  <a:lnTo>
                    <a:pt x="19050" y="0"/>
                  </a:lnTo>
                  <a:lnTo>
                    <a:pt x="19050" y="1949323"/>
                  </a:lnTo>
                  <a:lnTo>
                    <a:pt x="0" y="19493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64012" y="2870749"/>
            <a:ext cx="14288" cy="1462011"/>
            <a:chOff x="0" y="0"/>
            <a:chExt cx="19050" cy="19493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1949323"/>
            </a:xfrm>
            <a:custGeom>
              <a:avLst/>
              <a:gdLst/>
              <a:ahLst/>
              <a:cxnLst/>
              <a:rect r="r" b="b" t="t" l="l"/>
              <a:pathLst>
                <a:path h="1949323" w="19050">
                  <a:moveTo>
                    <a:pt x="0" y="0"/>
                  </a:moveTo>
                  <a:lnTo>
                    <a:pt x="19050" y="0"/>
                  </a:lnTo>
                  <a:lnTo>
                    <a:pt x="19050" y="1949323"/>
                  </a:lnTo>
                  <a:lnTo>
                    <a:pt x="0" y="19493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743819" y="3046962"/>
            <a:ext cx="6793135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84802" y="3315813"/>
            <a:ext cx="6793135" cy="81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2"/>
              </a:lnSpc>
            </a:pPr>
            <a:r>
              <a:rPr lang="en-US" sz="420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Confidex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627966" y="5941438"/>
            <a:ext cx="6250334" cy="19050"/>
            <a:chOff x="0" y="0"/>
            <a:chExt cx="8333778" cy="25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333740" cy="25400"/>
            </a:xfrm>
            <a:custGeom>
              <a:avLst/>
              <a:gdLst/>
              <a:ahLst/>
              <a:cxnLst/>
              <a:rect r="r" b="b" t="t" l="l"/>
              <a:pathLst>
                <a:path h="25400" w="8333740">
                  <a:moveTo>
                    <a:pt x="0" y="0"/>
                  </a:moveTo>
                  <a:lnTo>
                    <a:pt x="8333740" y="0"/>
                  </a:lnTo>
                  <a:lnTo>
                    <a:pt x="833374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5EAD8">
                <a:alpha val="15686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627966" y="4675661"/>
            <a:ext cx="6250334" cy="14288"/>
            <a:chOff x="0" y="0"/>
            <a:chExt cx="8333778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33740" cy="19050"/>
            </a:xfrm>
            <a:custGeom>
              <a:avLst/>
              <a:gdLst/>
              <a:ahLst/>
              <a:cxnLst/>
              <a:rect r="r" b="b" t="t" l="l"/>
              <a:pathLst>
                <a:path h="19050" w="8333740">
                  <a:moveTo>
                    <a:pt x="0" y="0"/>
                  </a:moveTo>
                  <a:lnTo>
                    <a:pt x="8333740" y="0"/>
                  </a:lnTo>
                  <a:lnTo>
                    <a:pt x="83337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627966" y="4675661"/>
            <a:ext cx="14288" cy="1284837"/>
            <a:chOff x="0" y="0"/>
            <a:chExt cx="19050" cy="17131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1713103"/>
            </a:xfrm>
            <a:custGeom>
              <a:avLst/>
              <a:gdLst/>
              <a:ahLst/>
              <a:cxnLst/>
              <a:rect r="r" b="b" t="t" l="l"/>
              <a:pathLst>
                <a:path h="1713103" w="19050">
                  <a:moveTo>
                    <a:pt x="0" y="0"/>
                  </a:moveTo>
                  <a:lnTo>
                    <a:pt x="19050" y="0"/>
                  </a:lnTo>
                  <a:lnTo>
                    <a:pt x="19050" y="1713103"/>
                  </a:lnTo>
                  <a:lnTo>
                    <a:pt x="0" y="17131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864012" y="4675661"/>
            <a:ext cx="14288" cy="1284837"/>
            <a:chOff x="0" y="0"/>
            <a:chExt cx="19050" cy="17131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1713103"/>
            </a:xfrm>
            <a:custGeom>
              <a:avLst/>
              <a:gdLst/>
              <a:ahLst/>
              <a:cxnLst/>
              <a:rect r="r" b="b" t="t" l="l"/>
              <a:pathLst>
                <a:path h="1713103" w="19050">
                  <a:moveTo>
                    <a:pt x="0" y="0"/>
                  </a:moveTo>
                  <a:lnTo>
                    <a:pt x="19050" y="0"/>
                  </a:lnTo>
                  <a:lnTo>
                    <a:pt x="19050" y="1713103"/>
                  </a:lnTo>
                  <a:lnTo>
                    <a:pt x="0" y="17131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743819" y="4775673"/>
            <a:ext cx="6793135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67657" y="5022009"/>
            <a:ext cx="6793135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Innovation with AI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627966" y="7391991"/>
            <a:ext cx="6250334" cy="19050"/>
            <a:chOff x="0" y="0"/>
            <a:chExt cx="8333778" cy="25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33740" cy="25400"/>
            </a:xfrm>
            <a:custGeom>
              <a:avLst/>
              <a:gdLst/>
              <a:ahLst/>
              <a:cxnLst/>
              <a:rect r="r" b="b" t="t" l="l"/>
              <a:pathLst>
                <a:path h="25400" w="8333740">
                  <a:moveTo>
                    <a:pt x="0" y="0"/>
                  </a:moveTo>
                  <a:lnTo>
                    <a:pt x="8333740" y="0"/>
                  </a:lnTo>
                  <a:lnTo>
                    <a:pt x="833374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5EAD8">
                <a:alpha val="15686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627966" y="6303388"/>
            <a:ext cx="6250334" cy="14288"/>
            <a:chOff x="0" y="0"/>
            <a:chExt cx="8333778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33740" cy="19050"/>
            </a:xfrm>
            <a:custGeom>
              <a:avLst/>
              <a:gdLst/>
              <a:ahLst/>
              <a:cxnLst/>
              <a:rect r="r" b="b" t="t" l="l"/>
              <a:pathLst>
                <a:path h="19050" w="8333740">
                  <a:moveTo>
                    <a:pt x="0" y="0"/>
                  </a:moveTo>
                  <a:lnTo>
                    <a:pt x="8333740" y="0"/>
                  </a:lnTo>
                  <a:lnTo>
                    <a:pt x="83337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627966" y="6303388"/>
            <a:ext cx="14288" cy="1107653"/>
            <a:chOff x="0" y="0"/>
            <a:chExt cx="19050" cy="1476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050" cy="1476883"/>
            </a:xfrm>
            <a:custGeom>
              <a:avLst/>
              <a:gdLst/>
              <a:ahLst/>
              <a:cxnLst/>
              <a:rect r="r" b="b" t="t" l="l"/>
              <a:pathLst>
                <a:path h="1476883" w="19050">
                  <a:moveTo>
                    <a:pt x="0" y="0"/>
                  </a:moveTo>
                  <a:lnTo>
                    <a:pt x="19050" y="0"/>
                  </a:lnTo>
                  <a:lnTo>
                    <a:pt x="19050" y="1476883"/>
                  </a:lnTo>
                  <a:lnTo>
                    <a:pt x="0" y="14768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6864012" y="6303388"/>
            <a:ext cx="14288" cy="1107653"/>
            <a:chOff x="0" y="0"/>
            <a:chExt cx="19050" cy="14768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050" cy="1476883"/>
            </a:xfrm>
            <a:custGeom>
              <a:avLst/>
              <a:gdLst/>
              <a:ahLst/>
              <a:cxnLst/>
              <a:rect r="r" b="b" t="t" l="l"/>
              <a:pathLst>
                <a:path h="1476883" w="19050">
                  <a:moveTo>
                    <a:pt x="0" y="0"/>
                  </a:moveTo>
                  <a:lnTo>
                    <a:pt x="19050" y="0"/>
                  </a:lnTo>
                  <a:lnTo>
                    <a:pt x="19050" y="1476883"/>
                  </a:lnTo>
                  <a:lnTo>
                    <a:pt x="0" y="14768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743819" y="6308150"/>
            <a:ext cx="6793135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667657" y="6687836"/>
            <a:ext cx="6793135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b="true" sz="24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Vijaya Vittala Institution of Technology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627966" y="8077562"/>
            <a:ext cx="3702853" cy="1142638"/>
            <a:chOff x="0" y="0"/>
            <a:chExt cx="4937138" cy="152351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37125" cy="1523619"/>
            </a:xfrm>
            <a:custGeom>
              <a:avLst/>
              <a:gdLst/>
              <a:ahLst/>
              <a:cxnLst/>
              <a:rect r="r" b="b" t="t" l="l"/>
              <a:pathLst>
                <a:path h="1523619" w="49371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815205" y="0"/>
                  </a:lnTo>
                  <a:cubicBezTo>
                    <a:pt x="4882515" y="0"/>
                    <a:pt x="4937125" y="54610"/>
                    <a:pt x="4937125" y="121920"/>
                  </a:cubicBezTo>
                  <a:lnTo>
                    <a:pt x="4937125" y="1401699"/>
                  </a:lnTo>
                  <a:cubicBezTo>
                    <a:pt x="4937125" y="1469009"/>
                    <a:pt x="4882515" y="1523619"/>
                    <a:pt x="4815205" y="1523619"/>
                  </a:cubicBezTo>
                  <a:lnTo>
                    <a:pt x="121920" y="1523619"/>
                  </a:lnTo>
                  <a:cubicBezTo>
                    <a:pt x="54610" y="1523619"/>
                    <a:pt x="0" y="1469009"/>
                    <a:pt x="0" y="1401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818400" y="8267995"/>
            <a:ext cx="3321987" cy="761771"/>
            <a:chOff x="0" y="0"/>
            <a:chExt cx="4429316" cy="1015695"/>
          </a:xfrm>
        </p:grpSpPr>
        <p:sp>
          <p:nvSpPr>
            <p:cNvPr name="Freeform 55" id="55" descr="AWS Student Builder Group, REVA University logo"/>
            <p:cNvSpPr/>
            <p:nvPr/>
          </p:nvSpPr>
          <p:spPr>
            <a:xfrm flipH="false" flipV="false" rot="0">
              <a:off x="0" y="0"/>
              <a:ext cx="4429252" cy="1015746"/>
            </a:xfrm>
            <a:custGeom>
              <a:avLst/>
              <a:gdLst/>
              <a:ahLst/>
              <a:cxnLst/>
              <a:rect r="r" b="b" t="t" l="l"/>
              <a:pathLst>
                <a:path h="1015746" w="4429252">
                  <a:moveTo>
                    <a:pt x="0" y="0"/>
                  </a:moveTo>
                  <a:lnTo>
                    <a:pt x="4429252" y="0"/>
                  </a:lnTo>
                  <a:lnTo>
                    <a:pt x="4429252" y="1015746"/>
                  </a:lnTo>
                  <a:lnTo>
                    <a:pt x="0" y="101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8" b="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650850" y="8257356"/>
            <a:ext cx="967616" cy="962844"/>
            <a:chOff x="0" y="0"/>
            <a:chExt cx="1290155" cy="128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0193" cy="1283843"/>
            </a:xfrm>
            <a:custGeom>
              <a:avLst/>
              <a:gdLst/>
              <a:ahLst/>
              <a:cxnLst/>
              <a:rect r="r" b="b" t="t" l="l"/>
              <a:pathLst>
                <a:path h="1283843" w="1290193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1187450" y="0"/>
                  </a:lnTo>
                  <a:cubicBezTo>
                    <a:pt x="1244219" y="0"/>
                    <a:pt x="1290193" y="45974"/>
                    <a:pt x="1290193" y="102743"/>
                  </a:cubicBezTo>
                  <a:lnTo>
                    <a:pt x="1290193" y="1181100"/>
                  </a:lnTo>
                  <a:cubicBezTo>
                    <a:pt x="1290193" y="1237869"/>
                    <a:pt x="1244219" y="1283843"/>
                    <a:pt x="1187450" y="1283843"/>
                  </a:cubicBezTo>
                  <a:lnTo>
                    <a:pt x="102743" y="1283843"/>
                  </a:lnTo>
                  <a:cubicBezTo>
                    <a:pt x="45974" y="1283843"/>
                    <a:pt x="0" y="1237869"/>
                    <a:pt x="0" y="1181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841284" y="8447789"/>
            <a:ext cx="586750" cy="581978"/>
            <a:chOff x="0" y="0"/>
            <a:chExt cx="782333" cy="775970"/>
          </a:xfrm>
        </p:grpSpPr>
        <p:sp>
          <p:nvSpPr>
            <p:cNvPr name="Freeform 59" id="59" descr="AiFi - The AIML Club, Computer Science and Engineering logo"/>
            <p:cNvSpPr/>
            <p:nvPr/>
          </p:nvSpPr>
          <p:spPr>
            <a:xfrm flipH="false" flipV="false" rot="0">
              <a:off x="0" y="0"/>
              <a:ext cx="782320" cy="775970"/>
            </a:xfrm>
            <a:custGeom>
              <a:avLst/>
              <a:gdLst/>
              <a:ahLst/>
              <a:cxnLst/>
              <a:rect r="r" b="b" t="t" l="l"/>
              <a:pathLst>
                <a:path h="775970" w="782320">
                  <a:moveTo>
                    <a:pt x="0" y="0"/>
                  </a:moveTo>
                  <a:lnTo>
                    <a:pt x="782320" y="0"/>
                  </a:lnTo>
                  <a:lnTo>
                    <a:pt x="782320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37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938506" y="8257356"/>
            <a:ext cx="940860" cy="962844"/>
            <a:chOff x="0" y="0"/>
            <a:chExt cx="1254481" cy="1283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54506" cy="1283716"/>
            </a:xfrm>
            <a:custGeom>
              <a:avLst/>
              <a:gdLst/>
              <a:ahLst/>
              <a:cxnLst/>
              <a:rect r="r" b="b" t="t" l="l"/>
              <a:pathLst>
                <a:path h="1283716" w="1254506">
                  <a:moveTo>
                    <a:pt x="0" y="100330"/>
                  </a:moveTo>
                  <a:cubicBezTo>
                    <a:pt x="0" y="44958"/>
                    <a:pt x="44958" y="0"/>
                    <a:pt x="100330" y="0"/>
                  </a:cubicBezTo>
                  <a:lnTo>
                    <a:pt x="1154176" y="0"/>
                  </a:lnTo>
                  <a:cubicBezTo>
                    <a:pt x="1209548" y="0"/>
                    <a:pt x="1254506" y="44958"/>
                    <a:pt x="1254506" y="100330"/>
                  </a:cubicBezTo>
                  <a:lnTo>
                    <a:pt x="1254506" y="1183386"/>
                  </a:lnTo>
                  <a:cubicBezTo>
                    <a:pt x="1254506" y="1238758"/>
                    <a:pt x="1209548" y="1283716"/>
                    <a:pt x="1154176" y="1283716"/>
                  </a:cubicBezTo>
                  <a:lnTo>
                    <a:pt x="100330" y="1283716"/>
                  </a:lnTo>
                  <a:cubicBezTo>
                    <a:pt x="44958" y="1283716"/>
                    <a:pt x="0" y="1238758"/>
                    <a:pt x="0" y="11833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128940" y="8447789"/>
            <a:ext cx="560003" cy="581978"/>
            <a:chOff x="0" y="0"/>
            <a:chExt cx="746671" cy="775970"/>
          </a:xfrm>
        </p:grpSpPr>
        <p:sp>
          <p:nvSpPr>
            <p:cNvPr name="Freeform 63" id="63" descr="Orange geometric mark logo"/>
            <p:cNvSpPr/>
            <p:nvPr/>
          </p:nvSpPr>
          <p:spPr>
            <a:xfrm flipH="false" flipV="false" rot="0">
              <a:off x="0" y="0"/>
              <a:ext cx="746633" cy="775970"/>
            </a:xfrm>
            <a:custGeom>
              <a:avLst/>
              <a:gdLst/>
              <a:ahLst/>
              <a:cxnLst/>
              <a:rect r="r" b="b" t="t" l="l"/>
              <a:pathLst>
                <a:path h="775970" w="746633">
                  <a:moveTo>
                    <a:pt x="0" y="0"/>
                  </a:moveTo>
                  <a:lnTo>
                    <a:pt x="746633" y="0"/>
                  </a:lnTo>
                  <a:lnTo>
                    <a:pt x="746633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16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4030351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/ TRACK &amp;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903" y="1656036"/>
            <a:ext cx="6061472" cy="9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5771" y="3149651"/>
            <a:ext cx="5107496" cy="1325699"/>
            <a:chOff x="0" y="0"/>
            <a:chExt cx="6809994" cy="17675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09994" cy="1767586"/>
            </a:xfrm>
            <a:custGeom>
              <a:avLst/>
              <a:gdLst/>
              <a:ahLst/>
              <a:cxnLst/>
              <a:rect r="r" b="b" t="t" l="l"/>
              <a:pathLst>
                <a:path h="1767586" w="6809994">
                  <a:moveTo>
                    <a:pt x="0" y="0"/>
                  </a:moveTo>
                  <a:lnTo>
                    <a:pt x="6809994" y="0"/>
                  </a:lnTo>
                  <a:lnTo>
                    <a:pt x="6809994" y="1767586"/>
                  </a:lnTo>
                  <a:lnTo>
                    <a:pt x="0" y="1767586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30328" y="3279073"/>
            <a:ext cx="505673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 CHOSEN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0328" y="3702383"/>
            <a:ext cx="4831080" cy="55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3508">
                <a:solidFill>
                  <a:srgbClr val="050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Open Innovation with AI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8212" y="4727896"/>
            <a:ext cx="5319493" cy="4304709"/>
            <a:chOff x="0" y="0"/>
            <a:chExt cx="7092658" cy="57396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92696" cy="5739638"/>
            </a:xfrm>
            <a:custGeom>
              <a:avLst/>
              <a:gdLst/>
              <a:ahLst/>
              <a:cxnLst/>
              <a:rect r="r" b="b" t="t" l="l"/>
              <a:pathLst>
                <a:path h="5739638" w="7092696">
                  <a:moveTo>
                    <a:pt x="0" y="0"/>
                  </a:moveTo>
                  <a:lnTo>
                    <a:pt x="7092696" y="0"/>
                  </a:lnTo>
                  <a:lnTo>
                    <a:pt x="7092696" y="5739638"/>
                  </a:lnTo>
                  <a:lnTo>
                    <a:pt x="0" y="57396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827" t="0" r="-53826" b="0"/>
              </a:stretch>
            </a:blipFill>
            <a:ln w="28575" cap="sq">
              <a:solidFill>
                <a:srgbClr val="050505"/>
              </a:solidFill>
              <a:prstDash val="dash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63210" y="5029200"/>
            <a:ext cx="3953075" cy="47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b="true" sz="2436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TRACK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210" y="5747150"/>
            <a:ext cx="4669498" cy="268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2765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can turn millions of raw securit</a:t>
            </a:r>
            <a:r>
              <a:rPr lang="en-US" sz="2765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events into contextual, prioritized risks—helping security teams identify dangerous data movement faster.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2518" y="2806751"/>
            <a:ext cx="28575" cy="6211567"/>
            <a:chOff x="0" y="0"/>
            <a:chExt cx="38100" cy="82820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8282051"/>
            </a:xfrm>
            <a:custGeom>
              <a:avLst/>
              <a:gdLst/>
              <a:ahLst/>
              <a:cxnLst/>
              <a:rect r="r" b="b" t="t" l="l"/>
              <a:pathLst>
                <a:path h="8282051" w="38100">
                  <a:moveTo>
                    <a:pt x="0" y="0"/>
                  </a:moveTo>
                  <a:lnTo>
                    <a:pt x="38100" y="0"/>
                  </a:lnTo>
                  <a:lnTo>
                    <a:pt x="38100" y="8282051"/>
                  </a:lnTo>
                  <a:lnTo>
                    <a:pt x="0" y="8282051"/>
                  </a:lnTo>
                  <a:close/>
                </a:path>
              </a:pathLst>
            </a:custGeom>
            <a:solidFill>
              <a:srgbClr val="050505">
                <a:alpha val="3137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95906" y="2792463"/>
            <a:ext cx="10253882" cy="6240142"/>
            <a:chOff x="0" y="0"/>
            <a:chExt cx="13671842" cy="83201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71804" cy="8320151"/>
            </a:xfrm>
            <a:custGeom>
              <a:avLst/>
              <a:gdLst/>
              <a:ahLst/>
              <a:cxnLst/>
              <a:rect r="r" b="b" t="t" l="l"/>
              <a:pathLst>
                <a:path h="8320151" w="13671804">
                  <a:moveTo>
                    <a:pt x="0" y="0"/>
                  </a:moveTo>
                  <a:lnTo>
                    <a:pt x="13671804" y="0"/>
                  </a:lnTo>
                  <a:lnTo>
                    <a:pt x="13671804" y="8320151"/>
                  </a:lnTo>
                  <a:lnTo>
                    <a:pt x="0" y="83201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80" t="0" r="-28081" b="0"/>
              </a:stretch>
            </a:blipFill>
            <a:ln w="28575" cap="sq">
              <a:solidFill>
                <a:srgbClr val="050505"/>
              </a:solidFill>
              <a:prstDash val="dash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7424518" y="3316438"/>
            <a:ext cx="4657350" cy="52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b="true" sz="2704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88550" y="4357411"/>
            <a:ext cx="9586636" cy="60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929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Hidden Risk Behind Authorized Access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4518" y="5359621"/>
            <a:ext cx="8598927" cy="249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0"/>
              </a:lnSpc>
            </a:pPr>
            <a:r>
              <a:rPr lang="en-US" sz="3213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</a:t>
            </a:r>
            <a:r>
              <a:rPr lang="en-US" sz="3213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 employees can move confidential data to USBs, personal cloud, or external destinations, while traditional logs show what happened—not whether the action is actually risky.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903" y="9291361"/>
            <a:ext cx="520087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IDEATE BLR ʼ26 — AI IDEATHON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89009" y="9291361"/>
            <a:ext cx="530828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REVA UNIVERSITY / BENGALURU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3053631"/>
            <a:ext cx="57150" cy="1375248"/>
            <a:chOff x="0" y="0"/>
            <a:chExt cx="76200" cy="18336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1833626"/>
            </a:xfrm>
            <a:custGeom>
              <a:avLst/>
              <a:gdLst/>
              <a:ahLst/>
              <a:cxnLst/>
              <a:rect r="r" b="b" t="t" l="l"/>
              <a:pathLst>
                <a:path h="1833626" w="76200">
                  <a:moveTo>
                    <a:pt x="0" y="0"/>
                  </a:moveTo>
                  <a:lnTo>
                    <a:pt x="76200" y="0"/>
                  </a:lnTo>
                  <a:lnTo>
                    <a:pt x="76200" y="1833626"/>
                  </a:lnTo>
                  <a:lnTo>
                    <a:pt x="0" y="1833626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86377" y="3076087"/>
            <a:ext cx="657932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VALUE PROPOSITION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7263851"/>
            <a:ext cx="6332191" cy="19050"/>
            <a:chOff x="0" y="0"/>
            <a:chExt cx="8442922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42960" cy="25400"/>
            </a:xfrm>
            <a:custGeom>
              <a:avLst/>
              <a:gdLst/>
              <a:ahLst/>
              <a:cxnLst/>
              <a:rect r="r" b="b" t="t" l="l"/>
              <a:pathLst>
                <a:path h="25400" w="8442960">
                  <a:moveTo>
                    <a:pt x="0" y="0"/>
                  </a:moveTo>
                  <a:lnTo>
                    <a:pt x="8442960" y="0"/>
                  </a:lnTo>
                  <a:lnTo>
                    <a:pt x="844296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5EAD8">
                <a:alpha val="6275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32027" y="6416189"/>
            <a:ext cx="6211757" cy="73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1865" b="true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 CONTEXT</a:t>
            </a:r>
          </a:p>
          <a:p>
            <a:pPr algn="l">
              <a:lnSpc>
                <a:spcPts val="2989"/>
              </a:lnSpc>
            </a:pPr>
            <a:r>
              <a:rPr lang="en-US" b="true" sz="1865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 who, what, wher</a:t>
            </a:r>
            <a:r>
              <a:rPr lang="en-US" b="true" sz="1865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e, and how sensitive data is moving.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8138217"/>
            <a:ext cx="6332191" cy="19050"/>
            <a:chOff x="0" y="0"/>
            <a:chExt cx="8442922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42960" cy="25400"/>
            </a:xfrm>
            <a:custGeom>
              <a:avLst/>
              <a:gdLst/>
              <a:ahLst/>
              <a:cxnLst/>
              <a:rect r="r" b="b" t="t" l="l"/>
              <a:pathLst>
                <a:path h="25400" w="8442960">
                  <a:moveTo>
                    <a:pt x="0" y="0"/>
                  </a:moveTo>
                  <a:lnTo>
                    <a:pt x="8442960" y="0"/>
                  </a:lnTo>
                  <a:lnTo>
                    <a:pt x="844296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5EAD8">
                <a:alpha val="6275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32027" y="7430132"/>
            <a:ext cx="7040862" cy="97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00" b="true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PRIORITIZE RISK</a:t>
            </a:r>
          </a:p>
          <a:p>
            <a:pPr algn="l">
              <a:lnSpc>
                <a:spcPts val="2560"/>
              </a:lnSpc>
            </a:pPr>
            <a:r>
              <a:rPr lang="en-US" b="true" sz="20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Convert events into an </a:t>
            </a:r>
            <a:r>
              <a:rPr lang="en-US" b="true" sz="20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0–100 risk score.</a:t>
            </a:r>
          </a:p>
          <a:p>
            <a:pPr algn="l">
              <a:lnSpc>
                <a:spcPts val="256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952500" y="9012584"/>
            <a:ext cx="6332191" cy="19050"/>
            <a:chOff x="0" y="0"/>
            <a:chExt cx="8442922" cy="25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42960" cy="25400"/>
            </a:xfrm>
            <a:custGeom>
              <a:avLst/>
              <a:gdLst/>
              <a:ahLst/>
              <a:cxnLst/>
              <a:rect r="r" b="b" t="t" l="l"/>
              <a:pathLst>
                <a:path h="25400" w="8442960">
                  <a:moveTo>
                    <a:pt x="0" y="0"/>
                  </a:moveTo>
                  <a:lnTo>
                    <a:pt x="8442960" y="0"/>
                  </a:lnTo>
                  <a:lnTo>
                    <a:pt x="844296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5EAD8">
                <a:alpha val="6275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6360" y="8261035"/>
            <a:ext cx="643459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 IN REAL TIME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</a:t>
            </a:r>
            <a:r>
              <a:rPr lang="en-US" b="true" sz="21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eate incidents and alert security managers instantly.</a:t>
            </a: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7765704" y="1511570"/>
            <a:ext cx="9584084" cy="8218218"/>
            <a:chOff x="0" y="0"/>
            <a:chExt cx="12778778" cy="109576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78740" cy="10957560"/>
            </a:xfrm>
            <a:custGeom>
              <a:avLst/>
              <a:gdLst/>
              <a:ahLst/>
              <a:cxnLst/>
              <a:rect r="r" b="b" t="t" l="l"/>
              <a:pathLst>
                <a:path h="10957560" w="12778740">
                  <a:moveTo>
                    <a:pt x="0" y="0"/>
                  </a:moveTo>
                  <a:lnTo>
                    <a:pt x="12778740" y="0"/>
                  </a:lnTo>
                  <a:lnTo>
                    <a:pt x="12778740" y="10957560"/>
                  </a:lnTo>
                  <a:lnTo>
                    <a:pt x="0" y="10957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018" t="0" r="-60018" b="0"/>
              </a:stretch>
            </a:blipFill>
            <a:ln w="28575" cap="sq">
              <a:solidFill>
                <a:srgbClr val="F9B900"/>
              </a:solidFill>
              <a:prstDash val="dash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049324" y="4852197"/>
            <a:ext cx="4482798" cy="71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3"/>
              </a:lnSpc>
            </a:pPr>
            <a:r>
              <a:rPr lang="en-US" sz="36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VISUAL HERE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941876" y="1572372"/>
            <a:ext cx="9317424" cy="4427987"/>
          </a:xfrm>
          <a:custGeom>
            <a:avLst/>
            <a:gdLst/>
            <a:ahLst/>
            <a:cxnLst/>
            <a:rect r="r" b="b" t="t" l="l"/>
            <a:pathLst>
              <a:path h="4427987" w="9317424">
                <a:moveTo>
                  <a:pt x="0" y="0"/>
                </a:moveTo>
                <a:lnTo>
                  <a:pt x="9317424" y="0"/>
                </a:lnTo>
                <a:lnTo>
                  <a:pt x="9317424" y="4427987"/>
                </a:lnTo>
                <a:lnTo>
                  <a:pt x="0" y="4427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2" t="0" r="-61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77903" y="425453"/>
            <a:ext cx="237825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9B9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/ THE IDEA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9B9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/ 09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903" y="1694136"/>
            <a:ext cx="6471352" cy="99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3"/>
              </a:lnSpc>
            </a:pPr>
            <a:r>
              <a:rPr lang="en-US" sz="750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6377" y="3607976"/>
            <a:ext cx="6157408" cy="280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b="true" sz="25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25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ONFIDEX transforms raw data-movement events into contextual risk intelligence—detecting, prioritizing, and alerting on confidential-data exfiltration in real time.</a:t>
            </a:r>
          </a:p>
          <a:p>
            <a:pPr algn="l">
              <a:lnSpc>
                <a:spcPts val="3733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367343" y="6589225"/>
            <a:ext cx="8447439" cy="2423359"/>
          </a:xfrm>
          <a:custGeom>
            <a:avLst/>
            <a:gdLst/>
            <a:ahLst/>
            <a:cxnLst/>
            <a:rect r="r" b="b" t="t" l="l"/>
            <a:pathLst>
              <a:path h="2423359" w="8447439">
                <a:moveTo>
                  <a:pt x="0" y="0"/>
                </a:moveTo>
                <a:lnTo>
                  <a:pt x="8447439" y="0"/>
                </a:lnTo>
                <a:lnTo>
                  <a:pt x="8447439" y="2423359"/>
                </a:lnTo>
                <a:lnTo>
                  <a:pt x="0" y="242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88851" y="6336095"/>
            <a:ext cx="308248" cy="53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27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7629" y="7337153"/>
            <a:ext cx="364398" cy="53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27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7744" y="8146735"/>
            <a:ext cx="364284" cy="53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27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342044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/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903" y="1656026"/>
            <a:ext cx="6522720" cy="9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0558" y="1456001"/>
            <a:ext cx="3887933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7A8A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CONFIDEX </a:t>
            </a:r>
            <a:r>
              <a:rPr lang="en-US" b="true" sz="2100">
                <a:solidFill>
                  <a:srgbClr val="7A8A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3025921"/>
            <a:ext cx="2941196" cy="5992197"/>
            <a:chOff x="0" y="0"/>
            <a:chExt cx="3921595" cy="79895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1633" cy="7989570"/>
            </a:xfrm>
            <a:custGeom>
              <a:avLst/>
              <a:gdLst/>
              <a:ahLst/>
              <a:cxnLst/>
              <a:rect r="r" b="b" t="t" l="l"/>
              <a:pathLst>
                <a:path h="7989570" w="3921633">
                  <a:moveTo>
                    <a:pt x="0" y="0"/>
                  </a:moveTo>
                  <a:lnTo>
                    <a:pt x="3921633" y="0"/>
                  </a:lnTo>
                  <a:lnTo>
                    <a:pt x="3921633" y="7989570"/>
                  </a:lnTo>
                  <a:lnTo>
                    <a:pt x="0" y="798957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5553" y="3213392"/>
            <a:ext cx="2639901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553" y="4093464"/>
            <a:ext cx="953572" cy="38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5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553" y="4921178"/>
            <a:ext cx="2242066" cy="21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Movement Event</a:t>
            </a:r>
          </a:p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copied / </a:t>
            </a:r>
          </a:p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 / </a:t>
            </a:r>
          </a:p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/ </a:t>
            </a:r>
          </a:p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</a:t>
            </a:r>
          </a:p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893791" y="5822004"/>
            <a:ext cx="419100" cy="28575"/>
            <a:chOff x="0" y="0"/>
            <a:chExt cx="5588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" cy="38100"/>
            </a:xfrm>
            <a:custGeom>
              <a:avLst/>
              <a:gdLst/>
              <a:ahLst/>
              <a:cxnLst/>
              <a:rect r="r" b="b" t="t" l="l"/>
              <a:pathLst>
                <a:path h="381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12891" y="3025921"/>
            <a:ext cx="2941501" cy="5992197"/>
            <a:chOff x="0" y="0"/>
            <a:chExt cx="3922001" cy="79895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2014" cy="7989570"/>
            </a:xfrm>
            <a:custGeom>
              <a:avLst/>
              <a:gdLst/>
              <a:ahLst/>
              <a:cxnLst/>
              <a:rect r="r" b="b" t="t" l="l"/>
              <a:pathLst>
                <a:path h="7989570" w="3922014">
                  <a:moveTo>
                    <a:pt x="0" y="0"/>
                  </a:moveTo>
                  <a:lnTo>
                    <a:pt x="3922014" y="0"/>
                  </a:lnTo>
                  <a:lnTo>
                    <a:pt x="3922014" y="7989570"/>
                  </a:lnTo>
                  <a:lnTo>
                    <a:pt x="0" y="798957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585935" y="3213392"/>
            <a:ext cx="2639901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85935" y="4093464"/>
            <a:ext cx="2402324" cy="38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62160" y="4782017"/>
            <a:ext cx="1972999" cy="303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</a:t>
            </a: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 </a:t>
            </a:r>
          </a:p>
          <a:p>
            <a:pPr algn="ctr">
              <a:lnSpc>
                <a:spcPts val="4875"/>
              </a:lnSpc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File  </a:t>
            </a:r>
          </a:p>
          <a:p>
            <a:pPr algn="ctr">
              <a:lnSpc>
                <a:spcPts val="4875"/>
              </a:lnSpc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</a:t>
            </a:r>
          </a:p>
          <a:p>
            <a:pPr algn="ctr">
              <a:lnSpc>
                <a:spcPts val="4875"/>
              </a:lnSpc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  </a:t>
            </a:r>
          </a:p>
          <a:p>
            <a:pPr algn="ctr">
              <a:lnSpc>
                <a:spcPts val="4875"/>
              </a:lnSpc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254259" y="5822004"/>
            <a:ext cx="419100" cy="28575"/>
            <a:chOff x="0" y="0"/>
            <a:chExt cx="5588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8800" cy="38100"/>
            </a:xfrm>
            <a:custGeom>
              <a:avLst/>
              <a:gdLst/>
              <a:ahLst/>
              <a:cxnLst/>
              <a:rect r="r" b="b" t="t" l="l"/>
              <a:pathLst>
                <a:path h="381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673350" y="3025921"/>
            <a:ext cx="2941196" cy="5992197"/>
            <a:chOff x="0" y="0"/>
            <a:chExt cx="3921595" cy="79895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21633" cy="7989570"/>
            </a:xfrm>
            <a:custGeom>
              <a:avLst/>
              <a:gdLst/>
              <a:ahLst/>
              <a:cxnLst/>
              <a:rect r="r" b="b" t="t" l="l"/>
              <a:pathLst>
                <a:path h="7989570" w="3921633">
                  <a:moveTo>
                    <a:pt x="0" y="0"/>
                  </a:moveTo>
                  <a:lnTo>
                    <a:pt x="3921633" y="0"/>
                  </a:lnTo>
                  <a:lnTo>
                    <a:pt x="3921633" y="7989570"/>
                  </a:lnTo>
                  <a:lnTo>
                    <a:pt x="0" y="798957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946403" y="3213392"/>
            <a:ext cx="2639901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46403" y="4093464"/>
            <a:ext cx="2320290" cy="38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5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46403" y="4831448"/>
            <a:ext cx="1799630" cy="2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2727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</a:t>
            </a:r>
            <a:r>
              <a:rPr lang="en-US" sz="2727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</a:p>
          <a:p>
            <a:pPr algn="l">
              <a:lnSpc>
                <a:spcPts val="3971"/>
              </a:lnSpc>
            </a:pPr>
            <a:r>
              <a:rPr lang="en-US" sz="2727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</a:p>
          <a:p>
            <a:pPr algn="l">
              <a:lnSpc>
                <a:spcPts val="3971"/>
              </a:lnSpc>
            </a:pPr>
            <a:r>
              <a:rPr lang="en-US" sz="2727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</a:t>
            </a:r>
          </a:p>
          <a:p>
            <a:pPr algn="l">
              <a:lnSpc>
                <a:spcPts val="3971"/>
              </a:lnSpc>
            </a:pPr>
            <a:r>
              <a:rPr lang="en-US" sz="2727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</a:p>
          <a:p>
            <a:pPr algn="l">
              <a:lnSpc>
                <a:spcPts val="3971"/>
              </a:lnSpc>
            </a:pPr>
            <a:r>
              <a:rPr lang="en-US" sz="2727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Scoring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614641" y="5822004"/>
            <a:ext cx="419100" cy="28575"/>
            <a:chOff x="0" y="0"/>
            <a:chExt cx="558800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8800" cy="38100"/>
            </a:xfrm>
            <a:custGeom>
              <a:avLst/>
              <a:gdLst/>
              <a:ahLst/>
              <a:cxnLst/>
              <a:rect r="r" b="b" t="t" l="l"/>
              <a:pathLst>
                <a:path h="381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033741" y="3025921"/>
            <a:ext cx="2941501" cy="5992197"/>
            <a:chOff x="0" y="0"/>
            <a:chExt cx="3922001" cy="79895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22014" cy="7989570"/>
            </a:xfrm>
            <a:custGeom>
              <a:avLst/>
              <a:gdLst/>
              <a:ahLst/>
              <a:cxnLst/>
              <a:rect r="r" b="b" t="t" l="l"/>
              <a:pathLst>
                <a:path h="7989570" w="3922014">
                  <a:moveTo>
                    <a:pt x="0" y="0"/>
                  </a:moveTo>
                  <a:lnTo>
                    <a:pt x="3922014" y="0"/>
                  </a:lnTo>
                  <a:lnTo>
                    <a:pt x="3922014" y="7989570"/>
                  </a:lnTo>
                  <a:lnTo>
                    <a:pt x="0" y="798957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306785" y="3213392"/>
            <a:ext cx="2639901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06785" y="4093464"/>
            <a:ext cx="1511260" cy="38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57852" y="4754716"/>
            <a:ext cx="2505194" cy="303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</a:pP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Risk: 0–100</a:t>
            </a:r>
          </a:p>
          <a:p>
            <a:pPr algn="ctr">
              <a:lnSpc>
                <a:spcPts val="4025"/>
              </a:lnSpc>
            </a:pP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 </a:t>
            </a:r>
          </a:p>
          <a:p>
            <a:pPr algn="ctr">
              <a:lnSpc>
                <a:spcPts val="4025"/>
              </a:lnSpc>
            </a:pP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edium </a:t>
            </a:r>
          </a:p>
          <a:p>
            <a:pPr algn="ctr">
              <a:lnSpc>
                <a:spcPts val="4025"/>
              </a:lnSpc>
            </a:pP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</a:p>
          <a:p>
            <a:pPr algn="ctr">
              <a:lnSpc>
                <a:spcPts val="4025"/>
              </a:lnSpc>
            </a:pP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Critical</a:t>
            </a:r>
          </a:p>
          <a:p>
            <a:pPr algn="ctr">
              <a:lnSpc>
                <a:spcPts val="4025"/>
              </a:lnSpc>
            </a:pPr>
            <a:r>
              <a:rPr lang="en-US" sz="276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Incident Created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975109" y="5822004"/>
            <a:ext cx="419100" cy="28575"/>
            <a:chOff x="0" y="0"/>
            <a:chExt cx="558800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8800" cy="38100"/>
            </a:xfrm>
            <a:custGeom>
              <a:avLst/>
              <a:gdLst/>
              <a:ahLst/>
              <a:cxnLst/>
              <a:rect r="r" b="b" t="t" l="l"/>
              <a:pathLst>
                <a:path h="381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394199" y="3025921"/>
            <a:ext cx="2941196" cy="5992197"/>
            <a:chOff x="0" y="0"/>
            <a:chExt cx="3921595" cy="79895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21633" cy="7989570"/>
            </a:xfrm>
            <a:custGeom>
              <a:avLst/>
              <a:gdLst/>
              <a:ahLst/>
              <a:cxnLst/>
              <a:rect r="r" b="b" t="t" l="l"/>
              <a:pathLst>
                <a:path h="7989570" w="3921633">
                  <a:moveTo>
                    <a:pt x="0" y="0"/>
                  </a:moveTo>
                  <a:lnTo>
                    <a:pt x="3921633" y="0"/>
                  </a:lnTo>
                  <a:lnTo>
                    <a:pt x="3921633" y="7989570"/>
                  </a:lnTo>
                  <a:lnTo>
                    <a:pt x="0" y="798957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667252" y="3213392"/>
            <a:ext cx="2639901" cy="64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3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667252" y="4093464"/>
            <a:ext cx="1223724" cy="38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5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67252" y="4456528"/>
            <a:ext cx="2250822" cy="291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649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</a:t>
            </a:r>
            <a:r>
              <a:rPr lang="en-US" sz="2649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Alert</a:t>
            </a:r>
          </a:p>
          <a:p>
            <a:pPr algn="l">
              <a:lnSpc>
                <a:spcPts val="3858"/>
              </a:lnSpc>
            </a:pPr>
          </a:p>
          <a:p>
            <a:pPr algn="l">
              <a:lnSpc>
                <a:spcPts val="3858"/>
              </a:lnSpc>
            </a:pPr>
            <a:r>
              <a:rPr lang="en-US" sz="2649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Manager Notification</a:t>
            </a:r>
          </a:p>
          <a:p>
            <a:pPr algn="l">
              <a:lnSpc>
                <a:spcPts val="3858"/>
              </a:lnSpc>
            </a:pPr>
            <a:r>
              <a:rPr lang="en-US" sz="2649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Investigation Dashboard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7903" y="9291361"/>
            <a:ext cx="520087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IDEATE BLR ʼ26 — AI IDEATHON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89009" y="9291361"/>
            <a:ext cx="530828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REVA UNIVERSITY / BENGALURU</a:t>
            </a:r>
          </a:p>
        </p:txBody>
      </p:sp>
      <p:sp>
        <p:nvSpPr>
          <p:cNvPr name="AutoShape 43" id="43"/>
          <p:cNvSpPr/>
          <p:nvPr/>
        </p:nvSpPr>
        <p:spPr>
          <a:xfrm flipH="true">
            <a:off x="5796622" y="5325290"/>
            <a:ext cx="0" cy="2520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H="true">
            <a:off x="5815672" y="5943612"/>
            <a:ext cx="0" cy="2520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 flipH="true">
            <a:off x="5815672" y="6614776"/>
            <a:ext cx="0" cy="2520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 flipH="true">
            <a:off x="5806147" y="7266890"/>
            <a:ext cx="0" cy="2520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2671381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/ THE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903" y="1656026"/>
            <a:ext cx="7909917" cy="9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TECHNOLOGY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8212" y="2754363"/>
            <a:ext cx="5324475" cy="3029541"/>
            <a:chOff x="0" y="0"/>
            <a:chExt cx="7099300" cy="4039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99300" cy="4039362"/>
            </a:xfrm>
            <a:custGeom>
              <a:avLst/>
              <a:gdLst/>
              <a:ahLst/>
              <a:cxnLst/>
              <a:rect r="r" b="b" t="t" l="l"/>
              <a:pathLst>
                <a:path h="4039362" w="7099300">
                  <a:moveTo>
                    <a:pt x="0" y="0"/>
                  </a:moveTo>
                  <a:lnTo>
                    <a:pt x="7099300" y="0"/>
                  </a:lnTo>
                  <a:lnTo>
                    <a:pt x="7099300" y="4039362"/>
                  </a:lnTo>
                  <a:lnTo>
                    <a:pt x="0" y="4039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02" t="0" r="-23002" b="0"/>
              </a:stretch>
            </a:blipFill>
            <a:ln w="28575" cap="sq">
              <a:solidFill>
                <a:srgbClr val="050505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3178" y="2965504"/>
            <a:ext cx="5125088" cy="51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ML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3178" y="3638874"/>
            <a:ext cx="5125088" cy="176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ontext Engine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Engine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Scoring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Analysis</a:t>
            </a:r>
          </a:p>
          <a:p>
            <a:pPr algn="l">
              <a:lnSpc>
                <a:spcPts val="283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481762" y="2754363"/>
            <a:ext cx="5324475" cy="3029541"/>
            <a:chOff x="0" y="0"/>
            <a:chExt cx="7099300" cy="40393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99300" cy="4039362"/>
            </a:xfrm>
            <a:custGeom>
              <a:avLst/>
              <a:gdLst/>
              <a:ahLst/>
              <a:cxnLst/>
              <a:rect r="r" b="b" t="t" l="l"/>
              <a:pathLst>
                <a:path h="4039362" w="7099300">
                  <a:moveTo>
                    <a:pt x="0" y="0"/>
                  </a:moveTo>
                  <a:lnTo>
                    <a:pt x="7099300" y="0"/>
                  </a:lnTo>
                  <a:lnTo>
                    <a:pt x="7099300" y="4039362"/>
                  </a:lnTo>
                  <a:lnTo>
                    <a:pt x="0" y="4039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02" t="0" r="-23002" b="0"/>
              </a:stretch>
            </a:blipFill>
            <a:ln w="28575" cap="sq">
              <a:solidFill>
                <a:srgbClr val="050505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16728" y="2965504"/>
            <a:ext cx="5125088" cy="51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6728" y="3638874"/>
            <a:ext cx="5125088" cy="141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 CSS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25312" y="2754363"/>
            <a:ext cx="5324475" cy="3029541"/>
            <a:chOff x="0" y="0"/>
            <a:chExt cx="7099300" cy="40393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99300" cy="4039362"/>
            </a:xfrm>
            <a:custGeom>
              <a:avLst/>
              <a:gdLst/>
              <a:ahLst/>
              <a:cxnLst/>
              <a:rect r="r" b="b" t="t" l="l"/>
              <a:pathLst>
                <a:path h="4039362" w="7099300">
                  <a:moveTo>
                    <a:pt x="0" y="0"/>
                  </a:moveTo>
                  <a:lnTo>
                    <a:pt x="7099300" y="0"/>
                  </a:lnTo>
                  <a:lnTo>
                    <a:pt x="7099300" y="4039362"/>
                  </a:lnTo>
                  <a:lnTo>
                    <a:pt x="0" y="4039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02" t="0" r="-23002" b="0"/>
              </a:stretch>
            </a:blipFill>
            <a:ln w="28575" cap="sq">
              <a:solidFill>
                <a:srgbClr val="05050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60278" y="2965504"/>
            <a:ext cx="5125088" cy="51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0278" y="3638874"/>
            <a:ext cx="5125088" cy="176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Pydantic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SQLAlchemy</a:t>
            </a:r>
          </a:p>
          <a:p>
            <a:pPr algn="l">
              <a:lnSpc>
                <a:spcPts val="283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938212" y="6002979"/>
            <a:ext cx="5324475" cy="3029617"/>
            <a:chOff x="0" y="0"/>
            <a:chExt cx="7099300" cy="40394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99300" cy="4039489"/>
            </a:xfrm>
            <a:custGeom>
              <a:avLst/>
              <a:gdLst/>
              <a:ahLst/>
              <a:cxnLst/>
              <a:rect r="r" b="b" t="t" l="l"/>
              <a:pathLst>
                <a:path h="4039489" w="7099300">
                  <a:moveTo>
                    <a:pt x="0" y="0"/>
                  </a:moveTo>
                  <a:lnTo>
                    <a:pt x="7099300" y="0"/>
                  </a:lnTo>
                  <a:lnTo>
                    <a:pt x="7099300" y="4039489"/>
                  </a:lnTo>
                  <a:lnTo>
                    <a:pt x="0" y="4039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04" t="0" r="-23004" b="0"/>
              </a:stretch>
            </a:blipFill>
            <a:ln w="28575" cap="sq">
              <a:solidFill>
                <a:srgbClr val="050505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73178" y="6214120"/>
            <a:ext cx="5125088" cy="51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3178" y="6887489"/>
            <a:ext cx="5125088" cy="176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&amp; Devices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 &amp; Incidents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Policies &amp; Audit Logs</a:t>
            </a:r>
          </a:p>
          <a:p>
            <a:pPr algn="l">
              <a:lnSpc>
                <a:spcPts val="2839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6481762" y="6002979"/>
            <a:ext cx="5324475" cy="3029617"/>
            <a:chOff x="0" y="0"/>
            <a:chExt cx="7099300" cy="40394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9300" cy="4039489"/>
            </a:xfrm>
            <a:custGeom>
              <a:avLst/>
              <a:gdLst/>
              <a:ahLst/>
              <a:cxnLst/>
              <a:rect r="r" b="b" t="t" l="l"/>
              <a:pathLst>
                <a:path h="4039489" w="7099300">
                  <a:moveTo>
                    <a:pt x="0" y="0"/>
                  </a:moveTo>
                  <a:lnTo>
                    <a:pt x="7099300" y="0"/>
                  </a:lnTo>
                  <a:lnTo>
                    <a:pt x="7099300" y="4039489"/>
                  </a:lnTo>
                  <a:lnTo>
                    <a:pt x="0" y="4039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04" t="0" r="-23004" b="0"/>
              </a:stretch>
            </a:blipFill>
            <a:ln w="28575" cap="sq">
              <a:solidFill>
                <a:srgbClr val="050505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816728" y="6214120"/>
            <a:ext cx="5125088" cy="51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6728" y="6887489"/>
            <a:ext cx="5125088" cy="106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WebSockets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</a:t>
            </a: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Event Streaming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Alerts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39600" y="6017266"/>
            <a:ext cx="5295900" cy="3001042"/>
            <a:chOff x="0" y="0"/>
            <a:chExt cx="7061200" cy="40013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61200" cy="4001389"/>
            </a:xfrm>
            <a:custGeom>
              <a:avLst/>
              <a:gdLst/>
              <a:ahLst/>
              <a:cxnLst/>
              <a:rect r="r" b="b" t="t" l="l"/>
              <a:pathLst>
                <a:path h="4001389" w="7061200">
                  <a:moveTo>
                    <a:pt x="0" y="0"/>
                  </a:moveTo>
                  <a:lnTo>
                    <a:pt x="7061200" y="0"/>
                  </a:lnTo>
                  <a:lnTo>
                    <a:pt x="7061200" y="4001389"/>
                  </a:lnTo>
                  <a:lnTo>
                    <a:pt x="0" y="4001389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331703" y="6185545"/>
            <a:ext cx="5187953" cy="51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5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31703" y="6858914"/>
            <a:ext cx="5187953" cy="106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Com</a:t>
            </a: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pose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.env Configuration</a:t>
            </a:r>
          </a:p>
          <a:p>
            <a:pPr algn="l" marL="421005" indent="-210502" lvl="1">
              <a:lnSpc>
                <a:spcPts val="2839"/>
              </a:lnSpc>
              <a:buFont typeface="Arial"/>
              <a:buChar char="•"/>
            </a:pPr>
            <a:r>
              <a:rPr lang="en-US" sz="195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/ Enterprise Ready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903" y="9291361"/>
            <a:ext cx="520087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IDEATE BLR ʼ26 — AI IDEATHON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89009" y="9291361"/>
            <a:ext cx="530828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REVA UNIVERSITY / BENGALURU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2033730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/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903" y="1656026"/>
            <a:ext cx="9713000" cy="9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IDEA TO IMPACT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2844851"/>
            <a:ext cx="3813277" cy="6173467"/>
            <a:chOff x="0" y="0"/>
            <a:chExt cx="5084369" cy="8231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4318" cy="8231251"/>
            </a:xfrm>
            <a:custGeom>
              <a:avLst/>
              <a:gdLst/>
              <a:ahLst/>
              <a:cxnLst/>
              <a:rect r="r" b="b" t="t" l="l"/>
              <a:pathLst>
                <a:path h="8231251" w="5084318">
                  <a:moveTo>
                    <a:pt x="0" y="0"/>
                  </a:moveTo>
                  <a:lnTo>
                    <a:pt x="5084318" y="0"/>
                  </a:lnTo>
                  <a:lnTo>
                    <a:pt x="5084318" y="8231251"/>
                  </a:lnTo>
                  <a:lnTo>
                    <a:pt x="0" y="8231251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01753" y="3384604"/>
            <a:ext cx="3209744" cy="78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61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94/1</a:t>
            </a:r>
            <a:r>
              <a:rPr lang="en-US" sz="61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1753" y="4497269"/>
            <a:ext cx="3209744" cy="311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</a:p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RITICAL RISK DETECTED</a:t>
            </a:r>
          </a:p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Identifies high-risk confidential data transfers through contextual risk scoring.</a:t>
            </a:r>
          </a:p>
          <a:p>
            <a:pPr algn="l">
              <a:lnSpc>
                <a:spcPts val="314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5070577" y="2844851"/>
            <a:ext cx="3813353" cy="6173467"/>
            <a:chOff x="0" y="0"/>
            <a:chExt cx="5084470" cy="82312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4445" cy="8231251"/>
            </a:xfrm>
            <a:custGeom>
              <a:avLst/>
              <a:gdLst/>
              <a:ahLst/>
              <a:cxnLst/>
              <a:rect r="r" b="b" t="t" l="l"/>
              <a:pathLst>
                <a:path h="8231251" w="5084445">
                  <a:moveTo>
                    <a:pt x="0" y="0"/>
                  </a:moveTo>
                  <a:lnTo>
                    <a:pt x="5084445" y="0"/>
                  </a:lnTo>
                  <a:lnTo>
                    <a:pt x="5084445" y="8231251"/>
                  </a:lnTo>
                  <a:lnTo>
                    <a:pt x="0" y="8231251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931789" y="3328348"/>
            <a:ext cx="2090919" cy="91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5"/>
              </a:lnSpc>
            </a:pPr>
            <a:r>
              <a:rPr lang="en-US" sz="7056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7056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5975" y="5009131"/>
            <a:ext cx="3209820" cy="233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ALERTING</a:t>
            </a:r>
          </a:p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Continuous streaming pipeline detects unauthorized file copies in seconds.</a:t>
            </a:r>
          </a:p>
          <a:p>
            <a:pPr algn="l">
              <a:lnSpc>
                <a:spcPts val="3143"/>
              </a:lnSpc>
            </a:pPr>
          </a:p>
          <a:p>
            <a:pPr algn="l">
              <a:lnSpc>
                <a:spcPts val="3143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188720" y="2844851"/>
            <a:ext cx="3813277" cy="6173467"/>
            <a:chOff x="0" y="0"/>
            <a:chExt cx="5084369" cy="82312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4318" cy="8231251"/>
            </a:xfrm>
            <a:custGeom>
              <a:avLst/>
              <a:gdLst/>
              <a:ahLst/>
              <a:cxnLst/>
              <a:rect r="r" b="b" t="t" l="l"/>
              <a:pathLst>
                <a:path h="8231251" w="5084318">
                  <a:moveTo>
                    <a:pt x="0" y="0"/>
                  </a:moveTo>
                  <a:lnTo>
                    <a:pt x="5084318" y="0"/>
                  </a:lnTo>
                  <a:lnTo>
                    <a:pt x="5084318" y="8231251"/>
                  </a:lnTo>
                  <a:lnTo>
                    <a:pt x="0" y="8231251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37973" y="3432229"/>
            <a:ext cx="1837253" cy="109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1"/>
              </a:lnSpc>
            </a:pPr>
            <a:r>
              <a:rPr lang="en-US" sz="84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84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7973" y="5083056"/>
            <a:ext cx="3209744" cy="194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</a:t>
            </a: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 SOC RESPONSE</a:t>
            </a:r>
          </a:p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Eliminates noise and false positives, accelerating analyst investigations.</a:t>
            </a:r>
          </a:p>
          <a:p>
            <a:pPr algn="l">
              <a:lnSpc>
                <a:spcPts val="3143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3292509" y="2830563"/>
            <a:ext cx="4057279" cy="6202042"/>
            <a:chOff x="0" y="0"/>
            <a:chExt cx="5409705" cy="82693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09692" cy="8269351"/>
            </a:xfrm>
            <a:custGeom>
              <a:avLst/>
              <a:gdLst/>
              <a:ahLst/>
              <a:cxnLst/>
              <a:rect r="r" b="b" t="t" l="l"/>
              <a:pathLst>
                <a:path h="8269351" w="5409692">
                  <a:moveTo>
                    <a:pt x="0" y="0"/>
                  </a:moveTo>
                  <a:lnTo>
                    <a:pt x="5409692" y="0"/>
                  </a:lnTo>
                  <a:lnTo>
                    <a:pt x="5409692" y="8269351"/>
                  </a:lnTo>
                  <a:lnTo>
                    <a:pt x="0" y="8269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6127" t="0" r="-146128" b="0"/>
              </a:stretch>
            </a:blipFill>
            <a:ln w="28575" cap="sq">
              <a:solidFill>
                <a:srgbClr val="050505"/>
              </a:solidFill>
              <a:prstDash val="dash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684625" y="3184579"/>
            <a:ext cx="3605441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IT SERVES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70312" y="3885966"/>
            <a:ext cx="3701672" cy="471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30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Users: Enterprise SOC Teams, Chief Information Security Officers (CISOs), Security Analysts, and Compliance Officers.</a:t>
            </a:r>
          </a:p>
          <a:p>
            <a:pPr algn="l">
              <a:lnSpc>
                <a:spcPts val="3455"/>
              </a:lnSpc>
            </a:pPr>
            <a:r>
              <a:rPr lang="en-US" sz="2304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Changes: Shifts cybersecurity defense from reactive log searching to proactive, context-driven exfiltration prevention.</a:t>
            </a:r>
          </a:p>
          <a:p>
            <a:pPr algn="l">
              <a:lnSpc>
                <a:spcPts val="345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3" y="9291361"/>
            <a:ext cx="520087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IDEATE BLR ʼ26 — AI IDEATHON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89009" y="9291361"/>
            <a:ext cx="530828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REVA UNIVERSITY / BENGALURU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3876056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 / DIFFERENTIATION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82703" y="1456011"/>
            <a:ext cx="2091509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7A8A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MODULE_06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903" y="2529774"/>
            <a:ext cx="6277137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CRITERION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69178" y="2558444"/>
            <a:ext cx="4727181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SOLUTIONS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5812" y="2510733"/>
            <a:ext cx="5119688" cy="650529"/>
            <a:chOff x="0" y="0"/>
            <a:chExt cx="6826250" cy="8673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6250" cy="867410"/>
            </a:xfrm>
            <a:custGeom>
              <a:avLst/>
              <a:gdLst/>
              <a:ahLst/>
              <a:cxnLst/>
              <a:rect r="r" b="b" t="t" l="l"/>
              <a:pathLst>
                <a:path h="86741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867410"/>
                  </a:lnTo>
                  <a:lnTo>
                    <a:pt x="0" y="86741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488866" y="2574226"/>
            <a:ext cx="4727181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b="true" sz="195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2500" y="3199362"/>
            <a:ext cx="6143625" cy="28575"/>
            <a:chOff x="0" y="0"/>
            <a:chExt cx="81915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91500" cy="38100"/>
            </a:xfrm>
            <a:custGeom>
              <a:avLst/>
              <a:gdLst/>
              <a:ahLst/>
              <a:cxnLst/>
              <a:rect r="r" b="b" t="t" l="l"/>
              <a:pathLst>
                <a:path h="38100" w="8191500">
                  <a:moveTo>
                    <a:pt x="0" y="0"/>
                  </a:moveTo>
                  <a:lnTo>
                    <a:pt x="8191500" y="0"/>
                  </a:lnTo>
                  <a:lnTo>
                    <a:pt x="8191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77903" y="3358105"/>
            <a:ext cx="6277137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sz="24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ETECTION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96125" y="3199362"/>
            <a:ext cx="5119688" cy="28575"/>
            <a:chOff x="0" y="0"/>
            <a:chExt cx="682625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69178" y="3367630"/>
            <a:ext cx="472718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etects file/device activity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15812" y="3199362"/>
            <a:ext cx="5119688" cy="920058"/>
            <a:chOff x="0" y="0"/>
            <a:chExt cx="6826250" cy="12267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6250" cy="1226693"/>
            </a:xfrm>
            <a:custGeom>
              <a:avLst/>
              <a:gdLst/>
              <a:ahLst/>
              <a:cxnLst/>
              <a:rect r="r" b="b" t="t" l="l"/>
              <a:pathLst>
                <a:path h="1226693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1226693"/>
                  </a:lnTo>
                  <a:lnTo>
                    <a:pt x="0" y="1226693"/>
                  </a:lnTo>
                  <a:close/>
                </a:path>
              </a:pathLst>
            </a:custGeom>
            <a:solidFill>
              <a:srgbClr val="F9B900">
                <a:alpha val="1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15812" y="3199362"/>
            <a:ext cx="5119688" cy="28575"/>
            <a:chOff x="0" y="0"/>
            <a:chExt cx="682625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88866" y="3408259"/>
            <a:ext cx="472718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Detects sus</a:t>
            </a: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picious data movement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2500" y="4119410"/>
            <a:ext cx="6143625" cy="28575"/>
            <a:chOff x="0" y="0"/>
            <a:chExt cx="81915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91500" cy="38100"/>
            </a:xfrm>
            <a:custGeom>
              <a:avLst/>
              <a:gdLst/>
              <a:ahLst/>
              <a:cxnLst/>
              <a:rect r="r" b="b" t="t" l="l"/>
              <a:pathLst>
                <a:path h="38100" w="8191500">
                  <a:moveTo>
                    <a:pt x="0" y="0"/>
                  </a:moveTo>
                  <a:lnTo>
                    <a:pt x="8191500" y="0"/>
                  </a:lnTo>
                  <a:lnTo>
                    <a:pt x="8191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7903" y="4278163"/>
            <a:ext cx="6277137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sz="24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096125" y="4119410"/>
            <a:ext cx="5119688" cy="28575"/>
            <a:chOff x="0" y="0"/>
            <a:chExt cx="682625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369178" y="4287688"/>
            <a:ext cx="472718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Mostl</a:t>
            </a: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event-based logs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215812" y="4119410"/>
            <a:ext cx="5119688" cy="920058"/>
            <a:chOff x="0" y="0"/>
            <a:chExt cx="6826250" cy="12267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6250" cy="1226693"/>
            </a:xfrm>
            <a:custGeom>
              <a:avLst/>
              <a:gdLst/>
              <a:ahLst/>
              <a:cxnLst/>
              <a:rect r="r" b="b" t="t" l="l"/>
              <a:pathLst>
                <a:path h="1226693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1226693"/>
                  </a:lnTo>
                  <a:lnTo>
                    <a:pt x="0" y="1226693"/>
                  </a:lnTo>
                  <a:close/>
                </a:path>
              </a:pathLst>
            </a:custGeom>
            <a:solidFill>
              <a:srgbClr val="F9B900">
                <a:alpha val="12157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215812" y="4119410"/>
            <a:ext cx="5119688" cy="28575"/>
            <a:chOff x="0" y="0"/>
            <a:chExt cx="6826250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488866" y="4175254"/>
            <a:ext cx="4727181" cy="82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</a:t>
            </a: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erstands user + file + destination + behavior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2500" y="5039468"/>
            <a:ext cx="6143625" cy="28575"/>
            <a:chOff x="0" y="0"/>
            <a:chExt cx="8191500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91500" cy="38100"/>
            </a:xfrm>
            <a:custGeom>
              <a:avLst/>
              <a:gdLst/>
              <a:ahLst/>
              <a:cxnLst/>
              <a:rect r="r" b="b" t="t" l="l"/>
              <a:pathLst>
                <a:path h="38100" w="8191500">
                  <a:moveTo>
                    <a:pt x="0" y="0"/>
                  </a:moveTo>
                  <a:lnTo>
                    <a:pt x="8191500" y="0"/>
                  </a:lnTo>
                  <a:lnTo>
                    <a:pt x="8191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7903" y="5198221"/>
            <a:ext cx="6277137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sz="24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096125" y="5039468"/>
            <a:ext cx="5119688" cy="28575"/>
            <a:chOff x="0" y="0"/>
            <a:chExt cx="6826250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369178" y="5232473"/>
            <a:ext cx="472718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</a:t>
            </a: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e/alert driven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215812" y="5039468"/>
            <a:ext cx="5119688" cy="920058"/>
            <a:chOff x="0" y="0"/>
            <a:chExt cx="6826250" cy="12267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6250" cy="1226693"/>
            </a:xfrm>
            <a:custGeom>
              <a:avLst/>
              <a:gdLst/>
              <a:ahLst/>
              <a:cxnLst/>
              <a:rect r="r" b="b" t="t" l="l"/>
              <a:pathLst>
                <a:path h="1226693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1226693"/>
                  </a:lnTo>
                  <a:lnTo>
                    <a:pt x="0" y="1226693"/>
                  </a:lnTo>
                  <a:close/>
                </a:path>
              </a:pathLst>
            </a:custGeom>
            <a:solidFill>
              <a:srgbClr val="F9B900">
                <a:alpha val="12157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15812" y="5039468"/>
            <a:ext cx="5119688" cy="28575"/>
            <a:chOff x="0" y="0"/>
            <a:chExt cx="6826250" cy="38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488866" y="5241998"/>
            <a:ext cx="472718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</a:t>
            </a: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extual 0–100 risk scoring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52500" y="5959526"/>
            <a:ext cx="6143625" cy="28575"/>
            <a:chOff x="0" y="0"/>
            <a:chExt cx="8191500" cy="38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91500" cy="38100"/>
            </a:xfrm>
            <a:custGeom>
              <a:avLst/>
              <a:gdLst/>
              <a:ahLst/>
              <a:cxnLst/>
              <a:rect r="r" b="b" t="t" l="l"/>
              <a:pathLst>
                <a:path h="38100" w="8191500">
                  <a:moveTo>
                    <a:pt x="0" y="0"/>
                  </a:moveTo>
                  <a:lnTo>
                    <a:pt x="8191500" y="0"/>
                  </a:lnTo>
                  <a:lnTo>
                    <a:pt x="8191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77903" y="6118279"/>
            <a:ext cx="6277137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sz="24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-US" sz="24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096125" y="5959526"/>
            <a:ext cx="5119688" cy="28575"/>
            <a:chOff x="0" y="0"/>
            <a:chExt cx="6826250" cy="381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369178" y="6089704"/>
            <a:ext cx="4727181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1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enerates alerts/logs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215812" y="5959526"/>
            <a:ext cx="5119688" cy="920058"/>
            <a:chOff x="0" y="0"/>
            <a:chExt cx="6826250" cy="12267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6250" cy="1226693"/>
            </a:xfrm>
            <a:custGeom>
              <a:avLst/>
              <a:gdLst/>
              <a:ahLst/>
              <a:cxnLst/>
              <a:rect r="r" b="b" t="t" l="l"/>
              <a:pathLst>
                <a:path h="1226693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1226693"/>
                  </a:lnTo>
                  <a:lnTo>
                    <a:pt x="0" y="1226693"/>
                  </a:lnTo>
                  <a:close/>
                </a:path>
              </a:pathLst>
            </a:custGeom>
            <a:solidFill>
              <a:srgbClr val="F9B900">
                <a:alpha val="12157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215812" y="5959526"/>
            <a:ext cx="5119688" cy="28575"/>
            <a:chOff x="0" y="0"/>
            <a:chExt cx="6826250" cy="38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6250" cy="38100"/>
            </a:xfrm>
            <a:custGeom>
              <a:avLst/>
              <a:gdLst/>
              <a:ahLst/>
              <a:cxnLst/>
              <a:rect r="r" b="b" t="t" l="l"/>
              <a:pathLst>
                <a:path h="38100" w="6826250">
                  <a:moveTo>
                    <a:pt x="0" y="0"/>
                  </a:moveTo>
                  <a:lnTo>
                    <a:pt x="6826250" y="0"/>
                  </a:lnTo>
                  <a:lnTo>
                    <a:pt x="682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2488866" y="6005845"/>
            <a:ext cx="4727181" cy="82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Creates incidents + al</a:t>
            </a:r>
            <a:r>
              <a:rPr lang="en-US" b="true" sz="21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erts the right authority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7903" y="9291361"/>
            <a:ext cx="520087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IDEATE BLR ʼ26 — AI IDEATHON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489009" y="9291361"/>
            <a:ext cx="530828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REVA UNIVERSITY / BENGALURU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9B9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8212" y="3166910"/>
            <a:ext cx="3938588" cy="6562877"/>
            <a:chOff x="0" y="0"/>
            <a:chExt cx="5251450" cy="87505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51450" cy="8750554"/>
            </a:xfrm>
            <a:custGeom>
              <a:avLst/>
              <a:gdLst/>
              <a:ahLst/>
              <a:cxnLst/>
              <a:rect r="r" b="b" t="t" l="l"/>
              <a:pathLst>
                <a:path h="8750554" w="5251450">
                  <a:moveTo>
                    <a:pt x="0" y="0"/>
                  </a:moveTo>
                  <a:lnTo>
                    <a:pt x="5251450" y="0"/>
                  </a:lnTo>
                  <a:lnTo>
                    <a:pt x="5251450" y="8750554"/>
                  </a:lnTo>
                  <a:lnTo>
                    <a:pt x="0" y="8750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792" t="0" r="-163792" b="0"/>
              </a:stretch>
            </a:blipFill>
            <a:ln w="28575" cap="sq">
              <a:solidFill>
                <a:srgbClr val="F5EA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095875" y="3166910"/>
            <a:ext cx="3938588" cy="6562877"/>
            <a:chOff x="0" y="0"/>
            <a:chExt cx="5251450" cy="87505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1450" cy="8750554"/>
            </a:xfrm>
            <a:custGeom>
              <a:avLst/>
              <a:gdLst/>
              <a:ahLst/>
              <a:cxnLst/>
              <a:rect r="r" b="b" t="t" l="l"/>
              <a:pathLst>
                <a:path h="8750554" w="5251450">
                  <a:moveTo>
                    <a:pt x="0" y="0"/>
                  </a:moveTo>
                  <a:lnTo>
                    <a:pt x="5251450" y="0"/>
                  </a:lnTo>
                  <a:lnTo>
                    <a:pt x="5251450" y="8750554"/>
                  </a:lnTo>
                  <a:lnTo>
                    <a:pt x="0" y="8750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792" t="0" r="-163792" b="0"/>
              </a:stretch>
            </a:blipFill>
            <a:ln w="28575" cap="sq">
              <a:solidFill>
                <a:srgbClr val="F5EAD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53538" y="3166910"/>
            <a:ext cx="3938588" cy="6562877"/>
            <a:chOff x="0" y="0"/>
            <a:chExt cx="5251450" cy="87505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51450" cy="8750554"/>
            </a:xfrm>
            <a:custGeom>
              <a:avLst/>
              <a:gdLst/>
              <a:ahLst/>
              <a:cxnLst/>
              <a:rect r="r" b="b" t="t" l="l"/>
              <a:pathLst>
                <a:path h="8750554" w="5251450">
                  <a:moveTo>
                    <a:pt x="0" y="0"/>
                  </a:moveTo>
                  <a:lnTo>
                    <a:pt x="5251450" y="0"/>
                  </a:lnTo>
                  <a:lnTo>
                    <a:pt x="5251450" y="8750554"/>
                  </a:lnTo>
                  <a:lnTo>
                    <a:pt x="0" y="8750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792" t="0" r="-163792" b="0"/>
              </a:stretch>
            </a:blipFill>
            <a:ln w="28575" cap="sq">
              <a:solidFill>
                <a:srgbClr val="F5EAD8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831636" y="3255401"/>
            <a:ext cx="2151740" cy="2697645"/>
          </a:xfrm>
          <a:custGeom>
            <a:avLst/>
            <a:gdLst/>
            <a:ahLst/>
            <a:cxnLst/>
            <a:rect r="r" b="b" t="t" l="l"/>
            <a:pathLst>
              <a:path h="2697645" w="2151740">
                <a:moveTo>
                  <a:pt x="0" y="0"/>
                </a:moveTo>
                <a:lnTo>
                  <a:pt x="2151740" y="0"/>
                </a:lnTo>
                <a:lnTo>
                  <a:pt x="2151740" y="2697645"/>
                </a:lnTo>
                <a:lnTo>
                  <a:pt x="0" y="2697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00792" y="3255401"/>
            <a:ext cx="2128754" cy="2708248"/>
          </a:xfrm>
          <a:custGeom>
            <a:avLst/>
            <a:gdLst/>
            <a:ahLst/>
            <a:cxnLst/>
            <a:rect r="r" b="b" t="t" l="l"/>
            <a:pathLst>
              <a:path h="2708248" w="2128754">
                <a:moveTo>
                  <a:pt x="0" y="0"/>
                </a:moveTo>
                <a:lnTo>
                  <a:pt x="2128754" y="0"/>
                </a:lnTo>
                <a:lnTo>
                  <a:pt x="2128754" y="2708248"/>
                </a:lnTo>
                <a:lnTo>
                  <a:pt x="0" y="2708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61651" y="3255401"/>
            <a:ext cx="2322361" cy="2666759"/>
          </a:xfrm>
          <a:custGeom>
            <a:avLst/>
            <a:gdLst/>
            <a:ahLst/>
            <a:cxnLst/>
            <a:rect r="r" b="b" t="t" l="l"/>
            <a:pathLst>
              <a:path h="2666759" w="2322361">
                <a:moveTo>
                  <a:pt x="0" y="0"/>
                </a:moveTo>
                <a:lnTo>
                  <a:pt x="2322361" y="0"/>
                </a:lnTo>
                <a:lnTo>
                  <a:pt x="2322361" y="2666759"/>
                </a:lnTo>
                <a:lnTo>
                  <a:pt x="0" y="2666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6761" r="0" b="-4676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7903" y="425453"/>
            <a:ext cx="1675695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9B9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 / 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9B9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 / 09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7903" y="2030473"/>
            <a:ext cx="4405074" cy="9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90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90368" y="1456011"/>
            <a:ext cx="1896789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96022" y="1791252"/>
            <a:ext cx="3300203" cy="77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39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6245" y="6032630"/>
            <a:ext cx="3642522" cy="53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27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245" y="6687577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245" y="7156175"/>
            <a:ext cx="3642522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b="true" sz="24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Daniel Richard Xavier 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245" y="7739853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EMAIL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6245" y="8217976"/>
            <a:ext cx="3642522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drx2021@gmail.com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6245" y="8719404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6245" y="9197526"/>
            <a:ext cx="3642522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9380987187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43908" y="6043233"/>
            <a:ext cx="3642522" cy="53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27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43908" y="6698180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43908" y="7166778"/>
            <a:ext cx="3642522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b="true" sz="24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Dhikshitha 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43908" y="7750456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EMAIL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43908" y="8228579"/>
            <a:ext cx="3642522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dhikshitha307@gmail.com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43908" y="8730007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43908" y="9208129"/>
            <a:ext cx="3642522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7892563979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01570" y="6001745"/>
            <a:ext cx="3642522" cy="53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270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01570" y="6656692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01570" y="7125290"/>
            <a:ext cx="3642522" cy="46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b="true" sz="24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Harish 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01570" y="7708968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EMAIL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01570" y="8187090"/>
            <a:ext cx="3642522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harishhari781823@gmail.com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01570" y="8688518"/>
            <a:ext cx="3642522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F5EA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01570" y="9166641"/>
            <a:ext cx="3642522" cy="3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1950">
                <a:solidFill>
                  <a:srgbClr val="F5EA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9901709596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425453"/>
            <a:ext cx="3062411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 /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7730" y="425453"/>
            <a:ext cx="1108567" cy="3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b="true" sz="1800">
                <a:solidFill>
                  <a:srgbClr val="05050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09 / 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040082"/>
            <a:ext cx="16383000" cy="28575"/>
            <a:chOff x="0" y="0"/>
            <a:chExt cx="2184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903" y="1656026"/>
            <a:ext cx="5502236" cy="9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8306" y="1623070"/>
            <a:ext cx="2917098" cy="40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2100">
                <a:solidFill>
                  <a:srgbClr val="7A8A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SOURCES / 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3363963"/>
            <a:ext cx="7905750" cy="19050"/>
            <a:chOff x="0" y="0"/>
            <a:chExt cx="10541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7903" y="2689279"/>
            <a:ext cx="261204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4071" y="2813104"/>
            <a:ext cx="7214235" cy="3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learn.microsoft.com/en-us/purview/dlp-learn-about-dlp?utm_source=chatgpt.com"/>
              </a:rPr>
              <a:t>Microsoft Learn, Learn about Data Loss Prevention (DLP), 2026.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29750" y="3363963"/>
            <a:ext cx="7905750" cy="19050"/>
            <a:chOff x="0" y="0"/>
            <a:chExt cx="105410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55153" y="2689279"/>
            <a:ext cx="307800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500" y="4168826"/>
            <a:ext cx="7905750" cy="19050"/>
            <a:chOff x="0" y="0"/>
            <a:chExt cx="1054100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7903" y="3494141"/>
            <a:ext cx="307800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0800" y="3617966"/>
            <a:ext cx="6873345" cy="3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learn.microsoft.com/en-us/purview/purview-security?utm_source=chatgpt.com"/>
              </a:rPr>
              <a:t>Microsoft Learn, Microsoft Purview Data Security Solutions,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29750" y="4168826"/>
            <a:ext cx="7905750" cy="19050"/>
            <a:chOff x="0" y="0"/>
            <a:chExt cx="10541000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55153" y="3494141"/>
            <a:ext cx="307696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8050" y="3432229"/>
            <a:ext cx="4218622" cy="7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learn.microsoft.com/en-us/purview/dlp-analytics-get-started?utm_source=chatgpt.com"/>
              </a:rPr>
              <a:t>Microsoft Learn, Data Loss Prevention Analytics, 2026.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2500" y="4973688"/>
            <a:ext cx="7905750" cy="19050"/>
            <a:chOff x="0" y="0"/>
            <a:chExt cx="105410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7903" y="4299004"/>
            <a:ext cx="307800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0800" y="4422829"/>
            <a:ext cx="7249431" cy="3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www.cisa.gov/sites/default/files/publications/Insider%20Threat%20Mitigation%20Guide_Final_508.pdf?utm_source=chatgpt.com"/>
              </a:rPr>
              <a:t>CISA, Insider Threat Mitigation Guide, 2026.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29750" y="4973688"/>
            <a:ext cx="7905750" cy="19050"/>
            <a:chOff x="0" y="0"/>
            <a:chExt cx="105410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455153" y="4299004"/>
            <a:ext cx="307800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8050" y="4422829"/>
            <a:ext cx="7407450" cy="3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www.cisa.gov/topics/physical-security/insider-threat-mitigation/resources-and-tools?utm_source=chatgpt.com"/>
              </a:rPr>
              <a:t>CISA, Insider Threat Mitigation Resources and Tools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2500" y="5778551"/>
            <a:ext cx="7905750" cy="19050"/>
            <a:chOff x="0" y="0"/>
            <a:chExt cx="105410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7903" y="5103866"/>
            <a:ext cx="307800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0800" y="5227691"/>
            <a:ext cx="6231787" cy="3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attack.mitre.org/techniques/T1052/?utm_source=chatgpt.com"/>
              </a:rPr>
              <a:t>MITRE ATT&amp;CK, Exfiltration Over Physical Medium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429750" y="5778551"/>
            <a:ext cx="7905750" cy="19050"/>
            <a:chOff x="0" y="0"/>
            <a:chExt cx="105410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41000" cy="25400"/>
            </a:xfrm>
            <a:custGeom>
              <a:avLst/>
              <a:gdLst/>
              <a:ahLst/>
              <a:cxnLst/>
              <a:rect r="r" b="b" t="t" l="l"/>
              <a:pathLst>
                <a:path h="254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50505">
                <a:alpha val="3922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455153" y="5065766"/>
            <a:ext cx="307696" cy="44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50">
                <a:solidFill>
                  <a:srgbClr val="F9B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8050" y="5227691"/>
            <a:ext cx="7331250" cy="3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attack.mitre.org/detectionstrategies/DET0123/?utm_source=chatgpt.com"/>
              </a:rPr>
              <a:t>MITRE ATT&amp;CK, Detection of Data Exfiltration via Removable Media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4879" y="2627366"/>
            <a:ext cx="4218622" cy="7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 u="sng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tooltip="https://attack.mitre.org/detectionstrategies/DET0220/?utm_source=chatgpt.com"/>
              </a:rPr>
              <a:t>MITRE ATT&amp;CK, Detection of USB-Based Data Exfiltration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1808" y="705666"/>
            <a:ext cx="11579383" cy="7835536"/>
            <a:chOff x="0" y="0"/>
            <a:chExt cx="15439177" cy="10447382"/>
          </a:xfrm>
        </p:grpSpPr>
        <p:sp>
          <p:nvSpPr>
            <p:cNvPr name="TextBox 3" id="3"/>
            <p:cNvSpPr txBox="true"/>
            <p:nvPr/>
          </p:nvSpPr>
          <p:spPr>
            <a:xfrm rot="-592460">
              <a:off x="348304" y="1658445"/>
              <a:ext cx="14580473" cy="4426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13"/>
                </a:lnSpc>
                <a:spcBef>
                  <a:spcPct val="0"/>
                </a:spcBef>
              </a:pPr>
              <a:r>
                <a:rPr lang="en-US" sz="24013">
                  <a:solidFill>
                    <a:srgbClr val="F6F3E4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Thank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-515361">
              <a:off x="1919007" y="5491569"/>
              <a:ext cx="13297142" cy="3985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12"/>
                </a:lnSpc>
                <a:spcBef>
                  <a:spcPct val="0"/>
                </a:spcBef>
              </a:pPr>
              <a:r>
                <a:rPr lang="en-US" sz="21612">
                  <a:solidFill>
                    <a:srgbClr val="F6F3E4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DAHUHkLyhvM</dc:identifier>
  <dcterms:modified xsi:type="dcterms:W3CDTF">2011-08-01T06:04:30Z</dcterms:modified>
  <cp:revision>1</cp:revision>
  <dc:title>IdeateBLR_PPT_Template (1).pptx</dc:title>
</cp:coreProperties>
</file>